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wide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 varScale="1"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6858000"/>
          </a:xfrm>
          <a:prstGeom prst="rect">
            <a:avLst/>
          </a:prstGeom>
          <a:solidFill>
            <a:srgbClr val="F3F7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0" y="0"/>
            <a:ext cx="329184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 13"/>
          <p:cNvSpPr txBox="1"/>
          <p:nvPr/>
        </p:nvSpPr>
        <p:spPr>
          <a:xfrm>
            <a:off x="685800" y="685800"/>
            <a:ext cx="86868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3200" b="1">
                <a:solidFill>
                  <a:srgbClr val="111827"/>
                </a:solidFill>
                <a:latin typeface="Aptos"/>
                <a:cs typeface="Aptos"/>
              </a:rPr>
              <a:t>Прогнозирование доходности акций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713232" y="13716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700">
                <a:solidFill>
                  <a:srgbClr val="4B5563"/>
                </a:solidFill>
                <a:latin typeface="Aptos"/>
                <a:cs typeface="Aptos"/>
              </a:rPr>
              <a:t>Количественный исследовательский отчет по pipeline forecasting/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713232" y="184708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>
                <a:solidFill>
                  <a:srgbClr val="4B5563"/>
                </a:solidFill>
                <a:latin typeface="Aptos"/>
                <a:cs typeface="Aptos"/>
              </a:rPr>
              <a:t>Дата подготовки: 14 июня 2026</a:t>
            </a:r>
          </a:p>
        </p:txBody>
      </p:sp>
      <p:sp>
        <p:nvSpPr>
          <p:cNvPr id="16" name="Shape 16"/>
          <p:cNvSpPr/>
          <p:nvPr/>
        </p:nvSpPr>
        <p:spPr>
          <a:xfrm>
            <a:off x="713232" y="2788920"/>
            <a:ext cx="2240280" cy="96012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713232" y="2788920"/>
            <a:ext cx="73152" cy="9601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877824" y="28986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ВСЕЛЕННАЯ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77824" y="31363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7 тикеров</a:t>
            </a:r>
          </a:p>
        </p:txBody>
      </p:sp>
      <p:sp>
        <p:nvSpPr>
          <p:cNvPr id="20" name="Shape 20"/>
          <p:cNvSpPr/>
          <p:nvPr/>
        </p:nvSpPr>
        <p:spPr>
          <a:xfrm>
            <a:off x="3154680" y="2788920"/>
            <a:ext cx="2240280" cy="96012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1" name="Shape 21"/>
          <p:cNvSpPr/>
          <p:nvPr/>
        </p:nvSpPr>
        <p:spPr>
          <a:xfrm>
            <a:off x="3154680" y="2788920"/>
            <a:ext cx="73152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3319272" y="28986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ДАННЫЕ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319272" y="31363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20 426</a:t>
            </a:r>
          </a:p>
        </p:txBody>
      </p:sp>
      <p:sp>
        <p:nvSpPr>
          <p:cNvPr id="24" name="Shape 24"/>
          <p:cNvSpPr/>
          <p:nvPr/>
        </p:nvSpPr>
        <p:spPr>
          <a:xfrm>
            <a:off x="5596128" y="2788920"/>
            <a:ext cx="2240280" cy="96012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5596128" y="2788920"/>
            <a:ext cx="73152" cy="96012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Text 26"/>
          <p:cNvSpPr txBox="1"/>
          <p:nvPr/>
        </p:nvSpPr>
        <p:spPr>
          <a:xfrm>
            <a:off x="5760720" y="28986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ПЕРИОД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5760720" y="31363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2007-05-28</a:t>
            </a:r>
          </a:p>
        </p:txBody>
      </p:sp>
      <p:sp>
        <p:nvSpPr>
          <p:cNvPr id="28" name="Shape 28"/>
          <p:cNvSpPr/>
          <p:nvPr/>
        </p:nvSpPr>
        <p:spPr>
          <a:xfrm>
            <a:off x="8037576" y="2788920"/>
            <a:ext cx="2240280" cy="96012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9" name="Shape 29"/>
          <p:cNvSpPr/>
          <p:nvPr/>
        </p:nvSpPr>
        <p:spPr>
          <a:xfrm>
            <a:off x="8037576" y="2788920"/>
            <a:ext cx="73152" cy="96012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8202168" y="28986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ПОСЛЕДНЯЯ ДАТА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202168" y="3136392"/>
            <a:ext cx="20116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2026-06-13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13232" y="4754880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>
                <a:solidFill>
                  <a:srgbClr val="111827"/>
                </a:solidFill>
                <a:latin typeface="Aptos"/>
                <a:cs typeface="Aptos"/>
              </a:rPr>
              <a:t>Неделя: 5 торговых дней | Месяц: 21 торговый день | target: next-open-to-future-open log return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713232" y="6080760"/>
            <a:ext cx="65836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800">
                <a:solidFill>
                  <a:srgbClr val="6B7280"/>
                </a:solidFill>
                <a:latin typeface="Aptos"/>
                <a:cs typeface="Aptos"/>
              </a:rPr>
              <a:t>Research code. Не является инвестиционной рекомендацией.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Executive Summary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Что можно заключить по готовому исследовательскому контуру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594360" y="1143000"/>
            <a:ext cx="5486400" cy="2926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/>
          <a:lstStyle/>
          <a:p>
            <a:pPr algn="l"/>
            <a:r>
              <a:rPr lang="ru-RU" sz="1500">
                <a:solidFill>
                  <a:srgbClr val="111827"/>
                </a:solidFill>
                <a:latin typeface="Aptos"/>
                <a:cs typeface="Aptos"/>
              </a:rPr>
              <a:t>• Пайплайн закрывает полный research-loop: EDA, leakage-safe features, strict validation/test, backtest, графики и модельные артефакты.</a:t>
            </a:r>
          </a:p>
          <a:p>
            <a:pPr algn="l"/>
            <a:r>
              <a:rPr lang="ru-RU" sz="1500">
                <a:solidFill>
                  <a:srgbClr val="111827"/>
                </a:solidFill>
                <a:latin typeface="Aptos"/>
                <a:cs typeface="Aptos"/>
              </a:rPr>
              <a:t>• Anti-leakage проверки прошли полностью: week 40/40, month 40/40.</a:t>
            </a:r>
          </a:p>
          <a:p>
            <a:pPr algn="l"/>
            <a:r>
              <a:rPr lang="ru-RU" sz="1500">
                <a:solidFill>
                  <a:srgbClr val="111827"/>
                </a:solidFill>
                <a:latin typeface="Aptos"/>
                <a:cs typeface="Aptos"/>
              </a:rPr>
              <a:t>• Лучший full-panel week: Ridge, +7.7%, Sharpe 3.27.</a:t>
            </a:r>
          </a:p>
          <a:p>
            <a:pPr algn="l"/>
            <a:r>
              <a:rPr lang="ru-RU" sz="1500">
                <a:solidFill>
                  <a:srgbClr val="111827"/>
                </a:solidFill>
                <a:latin typeface="Aptos"/>
                <a:cs typeface="Aptos"/>
              </a:rPr>
              <a:t>• Лучший full-panel month: Global LSTM all, +4.4%, Sharpe 8.37, но всего 33 сделки.</a:t>
            </a:r>
          </a:p>
          <a:p>
            <a:pPr algn="l"/>
            <a:r>
              <a:rPr lang="ru-RU" sz="1500">
                <a:solidFill>
                  <a:srgbClr val="111827"/>
                </a:solidFill>
                <a:latin typeface="Aptos"/>
                <a:cs typeface="Aptos"/>
              </a:rPr>
              <a:t>• Основной риск не в утечке данных, а в objective mismatch: directional accuracy плохо выбирает торгово устойчивые модели.</a:t>
            </a:r>
          </a:p>
        </p:txBody>
      </p:sp>
      <p:sp>
        <p:nvSpPr>
          <p:cNvPr id="15" name="Shape 15"/>
          <p:cNvSpPr/>
          <p:nvPr/>
        </p:nvSpPr>
        <p:spPr>
          <a:xfrm>
            <a:off x="6537960" y="1143000"/>
            <a:ext cx="1417320" cy="86868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16" name="Shape 16"/>
          <p:cNvSpPr/>
          <p:nvPr/>
        </p:nvSpPr>
        <p:spPr>
          <a:xfrm>
            <a:off x="6537960" y="1143000"/>
            <a:ext cx="73152" cy="8686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Text 17"/>
          <p:cNvSpPr txBox="1"/>
          <p:nvPr/>
        </p:nvSpPr>
        <p:spPr>
          <a:xfrm>
            <a:off x="6702552" y="125272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WEEK WINNER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6702552" y="149047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+7.7%</a:t>
            </a:r>
          </a:p>
        </p:txBody>
      </p:sp>
      <p:sp>
        <p:nvSpPr>
          <p:cNvPr id="19" name="Shape 19"/>
          <p:cNvSpPr/>
          <p:nvPr/>
        </p:nvSpPr>
        <p:spPr>
          <a:xfrm>
            <a:off x="8183880" y="1143000"/>
            <a:ext cx="1417320" cy="86868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0" name="Shape 20"/>
          <p:cNvSpPr/>
          <p:nvPr/>
        </p:nvSpPr>
        <p:spPr>
          <a:xfrm>
            <a:off x="8183880" y="1143000"/>
            <a:ext cx="73152" cy="8686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8348472" y="125272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SHARPE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8348472" y="149047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3.27</a:t>
            </a:r>
          </a:p>
        </p:txBody>
      </p:sp>
      <p:sp>
        <p:nvSpPr>
          <p:cNvPr id="23" name="Shape 23"/>
          <p:cNvSpPr/>
          <p:nvPr/>
        </p:nvSpPr>
        <p:spPr>
          <a:xfrm>
            <a:off x="6537960" y="2240280"/>
            <a:ext cx="1417320" cy="86868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4" name="Shape 24"/>
          <p:cNvSpPr/>
          <p:nvPr/>
        </p:nvSpPr>
        <p:spPr>
          <a:xfrm>
            <a:off x="6537960" y="2240280"/>
            <a:ext cx="73152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6702552" y="235000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MONTH WINNER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702552" y="258775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+4.4%</a:t>
            </a:r>
          </a:p>
        </p:txBody>
      </p:sp>
      <p:sp>
        <p:nvSpPr>
          <p:cNvPr id="27" name="Shape 27"/>
          <p:cNvSpPr/>
          <p:nvPr/>
        </p:nvSpPr>
        <p:spPr>
          <a:xfrm>
            <a:off x="8183880" y="2240280"/>
            <a:ext cx="1417320" cy="86868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8183880" y="2240280"/>
            <a:ext cx="73152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8348472" y="235000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 b="1">
                <a:solidFill>
                  <a:srgbClr val="4B5563"/>
                </a:solidFill>
                <a:latin typeface="Aptos"/>
                <a:cs typeface="Aptos"/>
              </a:rPr>
              <a:t>SHARPE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8348472" y="2587752"/>
            <a:ext cx="11887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800" b="1">
                <a:solidFill>
                  <a:srgbClr val="111827"/>
                </a:solidFill>
                <a:latin typeface="Aptos"/>
                <a:cs typeface="Aptos"/>
              </a:rPr>
              <a:t>8.37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537960" y="3657600"/>
            <a:ext cx="3337560" cy="86868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 wrap="square" lIns="73152" tIns="73152" rIns="73152" bIns="73152"/>
          <a:lstStyle/>
          <a:p>
            <a:pPr algn="l"/>
            <a:r>
              <a:rPr lang="ru-RU" sz="1300">
                <a:solidFill>
                  <a:srgbClr val="111827"/>
                </a:solidFill>
                <a:latin typeface="Aptos"/>
                <a:cs typeface="Aptos"/>
              </a:rPr>
              <a:t>Статус: сильный research prototype; для production trading нужен selector по utility, multi-fold проверка и sizing.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Объем Работ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Сквозной процесс от данных до тестовых signal metrics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" y="1051560"/>
            <a:ext cx="50292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13232" y="116128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325880" y="105156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EDA и контроль качества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325880" y="130759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OHLCV schema, missing checks, target construction.</a:t>
            </a:r>
          </a:p>
        </p:txBody>
      </p:sp>
      <p:sp>
        <p:nvSpPr>
          <p:cNvPr id="18" name="Shape 18"/>
          <p:cNvSpPr/>
          <p:nvPr/>
        </p:nvSpPr>
        <p:spPr>
          <a:xfrm>
            <a:off x="640080" y="1801368"/>
            <a:ext cx="50292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713232" y="1911096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325880" y="180136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Leakage-safe features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325880" y="2057400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127 базовых признаков; rolling, volatility, volume, cross-sectional.</a:t>
            </a:r>
          </a:p>
        </p:txBody>
      </p:sp>
      <p:sp>
        <p:nvSpPr>
          <p:cNvPr id="22" name="Shape 22"/>
          <p:cNvSpPr/>
          <p:nvPr/>
        </p:nvSpPr>
        <p:spPr>
          <a:xfrm>
            <a:off x="640080" y="2551176"/>
            <a:ext cx="50292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713232" y="2660904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325880" y="2551176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Sequence datasets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325880" y="2807208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LSTM/global LSTM/Mamba artifacts без fitting scaler до split.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3300984"/>
            <a:ext cx="50292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13232" y="3410712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325880" y="330098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Strict training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325880" y="3557016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Optuna, purged train/validation/test, final refit.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4050792"/>
            <a:ext cx="50292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713232" y="4160520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05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325880" y="405079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Backtest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325880" y="4306824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Long/cash signal, overlapping tranches, costs 10 bps + slippage 5 bps.</a:t>
            </a:r>
          </a:p>
        </p:txBody>
      </p:sp>
      <p:sp>
        <p:nvSpPr>
          <p:cNvPr id="34" name="Shape 34"/>
          <p:cNvSpPr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713232" y="4910328"/>
            <a:ext cx="3657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06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325880" y="4800600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Artifacts/MLOps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1325880" y="5056632"/>
            <a:ext cx="8046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Reports, plots, final.pkl, MLflow registration hooks.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40080" y="5806440"/>
            <a:ext cx="9601200" cy="32004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 wrap="square" lIns="73152" tIns="73152" rIns="73152" bIns="73152"/>
          <a:lstStyle/>
          <a:p>
            <a:pPr algn="l"/>
            <a:r>
              <a:rPr lang="ru-RU" sz="1100">
                <a:solidFill>
                  <a:srgbClr val="111827"/>
                </a:solidFill>
                <a:latin typeface="Aptos"/>
                <a:cs typeface="Aptos"/>
              </a:rPr>
              <a:t>Ноутбуки: 01_eda, 01b/01c/01d sequence EDA, 02 table/LSTM/global LSTM/Mamba, 03 model comparison.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Данные И Признаки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Единая база для tabular, LSTM, global LSTM и Mamba</a:t>
            </a:r>
          </a:p>
        </p:txBody>
      </p:sp>
      <p:sp>
        <p:nvSpPr>
          <p:cNvPr id="14" name="Shape 14"/>
          <p:cNvSpPr/>
          <p:nvPr/>
        </p:nvSpPr>
        <p:spPr>
          <a:xfrm>
            <a:off x="685800" y="1143000"/>
            <a:ext cx="8778240" cy="411480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13232" y="1170432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Dataset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724912" y="1170432"/>
            <a:ext cx="136245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Rows/seq.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142232" y="1170432"/>
            <a:ext cx="108813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Features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5285232" y="1170432"/>
            <a:ext cx="415137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Комментарий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1554480"/>
            <a:ext cx="8778240" cy="41148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0" name="Text 20"/>
          <p:cNvSpPr txBox="1"/>
          <p:nvPr/>
        </p:nvSpPr>
        <p:spPr>
          <a:xfrm>
            <a:off x="713232" y="1581912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Base table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24912" y="1581912"/>
            <a:ext cx="136245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19 407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142232" y="1581912"/>
            <a:ext cx="108813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127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5285232" y="1581912"/>
            <a:ext cx="415137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rolling/cross-sectional OHLCV</a:t>
            </a:r>
          </a:p>
        </p:txBody>
      </p:sp>
      <p:sp>
        <p:nvSpPr>
          <p:cNvPr id="24" name="Shape 24"/>
          <p:cNvSpPr/>
          <p:nvPr/>
        </p:nvSpPr>
        <p:spPr>
          <a:xfrm>
            <a:off x="685800" y="1965960"/>
            <a:ext cx="8778240" cy="411480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5" name="Text 25"/>
          <p:cNvSpPr txBox="1"/>
          <p:nvPr/>
        </p:nvSpPr>
        <p:spPr>
          <a:xfrm>
            <a:off x="713232" y="1993392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Per-ticker LSTM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2724912" y="1993392"/>
            <a:ext cx="136245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19 407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142232" y="1993392"/>
            <a:ext cx="108813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160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5285232" y="1993392"/>
            <a:ext cx="415137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+33 sequence features</a:t>
            </a:r>
          </a:p>
        </p:txBody>
      </p:sp>
      <p:sp>
        <p:nvSpPr>
          <p:cNvPr id="29" name="Shape 29"/>
          <p:cNvSpPr/>
          <p:nvPr/>
        </p:nvSpPr>
        <p:spPr>
          <a:xfrm>
            <a:off x="685800" y="2377440"/>
            <a:ext cx="8778240" cy="41148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713232" y="2404872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Global LSTM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724912" y="2404872"/>
            <a:ext cx="136245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18 994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142232" y="2404872"/>
            <a:ext cx="108813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167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285232" y="2404872"/>
            <a:ext cx="415137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ticker one-hot + global pooling</a:t>
            </a:r>
          </a:p>
        </p:txBody>
      </p:sp>
      <p:sp>
        <p:nvSpPr>
          <p:cNvPr id="34" name="Shape 34"/>
          <p:cNvSpPr/>
          <p:nvPr/>
        </p:nvSpPr>
        <p:spPr>
          <a:xfrm>
            <a:off x="685800" y="2788920"/>
            <a:ext cx="8778240" cy="411480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713232" y="2816352"/>
            <a:ext cx="195681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Global Mamba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2724912" y="2816352"/>
            <a:ext cx="136245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18 532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4142232" y="2816352"/>
            <a:ext cx="108813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275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5285232" y="2816352"/>
            <a:ext cx="4151376" cy="37490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+108 regime/gap/vol/volume features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749808" y="3657600"/>
            <a:ext cx="8961120" cy="13258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/>
          <a:lstStyle/>
          <a:p>
            <a:pPr algn="l"/>
            <a:r>
              <a:rPr lang="ru-RU" sz="1300">
                <a:solidFill>
                  <a:srgbClr val="111827"/>
                </a:solidFill>
                <a:latin typeface="Aptos"/>
                <a:cs typeface="Aptos"/>
              </a:rPr>
              <a:t>• Clean OHLCV: 20,426 строк, 7 тикеров, 2007-05-28 - 2026-06-13.</a:t>
            </a:r>
          </a:p>
          <a:p>
            <a:pPr algn="l"/>
            <a:r>
              <a:rPr lang="ru-RU" sz="1300">
                <a:solidFill>
                  <a:srgbClr val="111827"/>
                </a:solidFill>
                <a:latin typeface="Aptos"/>
                <a:cs typeface="Aptos"/>
              </a:rPr>
              <a:t>• Целевая переменная строится через future log return; признаки используют только текущие и прошлые строки.</a:t>
            </a:r>
          </a:p>
          <a:p>
            <a:pPr algn="l"/>
            <a:r>
              <a:rPr lang="ru-RU" sz="1300">
                <a:solidFill>
                  <a:srgbClr val="111827"/>
                </a:solidFill>
                <a:latin typeface="Aptos"/>
                <a:cs typeface="Aptos"/>
              </a:rPr>
              <a:t>• Горизонт month теряет часть последних строк из-за target shift: 19 295 против 19 407 для week.</a:t>
            </a:r>
          </a:p>
        </p:txBody>
      </p:sp>
      <p:pic>
        <p:nvPicPr>
          <p:cNvPr id="40" name="eda_close_volum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289362" y="4526280"/>
            <a:ext cx="2337677" cy="1325880"/>
          </a:xfrm>
          <a:prstGeom prst="rect">
            <a:avLst/>
          </a:prstGeom>
        </p:spPr>
      </p:pic>
      <p:sp>
        <p:nvSpPr>
          <p:cNvPr id="41" name="Text 41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Валидационный Протокол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Почему результаты можно считать out-of-sample диагностикой</a:t>
            </a:r>
          </a:p>
        </p:txBody>
      </p:sp>
      <p:sp>
        <p:nvSpPr>
          <p:cNvPr id="14" name="Shape 14"/>
          <p:cNvSpPr/>
          <p:nvPr/>
        </p:nvSpPr>
        <p:spPr>
          <a:xfrm>
            <a:off x="685800" y="1005840"/>
            <a:ext cx="9784080" cy="438912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13232" y="1033272"/>
            <a:ext cx="177393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Компонент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542032" y="1033272"/>
            <a:ext cx="790041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Реализация</a:t>
            </a:r>
          </a:p>
        </p:txBody>
      </p:sp>
      <p:sp>
        <p:nvSpPr>
          <p:cNvPr id="17" name="Shape 17"/>
          <p:cNvSpPr/>
          <p:nvPr/>
        </p:nvSpPr>
        <p:spPr>
          <a:xfrm>
            <a:off x="685800" y="1444752"/>
            <a:ext cx="9784080" cy="438912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713232" y="1472184"/>
            <a:ext cx="177393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Split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2542032" y="1472184"/>
            <a:ext cx="790041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Chronological train / validation / test; random split не используется</a:t>
            </a:r>
          </a:p>
        </p:txBody>
      </p:sp>
      <p:sp>
        <p:nvSpPr>
          <p:cNvPr id="20" name="Shape 20"/>
          <p:cNvSpPr/>
          <p:nvPr/>
        </p:nvSpPr>
        <p:spPr>
          <a:xfrm>
            <a:off x="685800" y="1883664"/>
            <a:ext cx="9784080" cy="438912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713232" y="1911096"/>
            <a:ext cx="177393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Purging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2542032" y="1911096"/>
            <a:ext cx="790041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Training rows с target_date после начала validation/test удаляются</a:t>
            </a:r>
          </a:p>
        </p:txBody>
      </p:sp>
      <p:sp>
        <p:nvSpPr>
          <p:cNvPr id="23" name="Shape 23"/>
          <p:cNvSpPr/>
          <p:nvPr/>
        </p:nvSpPr>
        <p:spPr>
          <a:xfrm>
            <a:off x="685800" y="2322576"/>
            <a:ext cx="9784080" cy="438912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713232" y="2350008"/>
            <a:ext cx="177393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History cap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2542032" y="2350008"/>
            <a:ext cx="790041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Mature names: максимум 1260 train rows; limited history flagged</a:t>
            </a:r>
          </a:p>
        </p:txBody>
      </p:sp>
      <p:sp>
        <p:nvSpPr>
          <p:cNvPr id="26" name="Shape 26"/>
          <p:cNvSpPr/>
          <p:nvPr/>
        </p:nvSpPr>
        <p:spPr>
          <a:xfrm>
            <a:off x="685800" y="2761488"/>
            <a:ext cx="9784080" cy="438912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13232" y="2788920"/>
            <a:ext cx="177393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Signal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542032" y="2788920"/>
            <a:ext cx="790041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Long/cash, expanding median anchor, overlapping tranches headline mode</a:t>
            </a:r>
          </a:p>
        </p:txBody>
      </p:sp>
      <p:sp>
        <p:nvSpPr>
          <p:cNvPr id="29" name="Shape 29"/>
          <p:cNvSpPr/>
          <p:nvPr/>
        </p:nvSpPr>
        <p:spPr>
          <a:xfrm>
            <a:off x="685800" y="3200400"/>
            <a:ext cx="9784080" cy="438912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713232" y="3227832"/>
            <a:ext cx="177393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Costs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542032" y="3227832"/>
            <a:ext cx="790041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10 bps transaction cost + 5 bps slippage</a:t>
            </a:r>
          </a:p>
        </p:txBody>
      </p:sp>
      <p:sp>
        <p:nvSpPr>
          <p:cNvPr id="32" name="Shape 32"/>
          <p:cNvSpPr/>
          <p:nvPr/>
        </p:nvSpPr>
        <p:spPr>
          <a:xfrm>
            <a:off x="685800" y="3639312"/>
            <a:ext cx="9784080" cy="438912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3" name="Text 33"/>
          <p:cNvSpPr txBox="1"/>
          <p:nvPr/>
        </p:nvSpPr>
        <p:spPr>
          <a:xfrm>
            <a:off x="713232" y="3666744"/>
            <a:ext cx="177393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Audit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2542032" y="3666744"/>
            <a:ext cx="7900416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Leakage checks: week 40/40, month 40/40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777240" y="4389120"/>
            <a:ext cx="4480560" cy="77724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 wrap="square" lIns="73152" tIns="73152" rIns="73152" bIns="73152"/>
          <a:lstStyle/>
          <a:p>
            <a:pPr algn="l"/>
            <a:r>
              <a:rPr lang="ru-RU" sz="1300">
                <a:solidFill>
                  <a:srgbClr val="111827"/>
                </a:solidFill>
                <a:latin typeface="Aptos"/>
                <a:cs typeface="Aptos"/>
              </a:rPr>
              <a:t>Week test window example: 2026-01-25 - 2026-06-07; target dates до 2026-06-13.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5623560" y="4389120"/>
            <a:ext cx="4480560" cy="77724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 wrap="square" lIns="73152" tIns="73152" rIns="73152" bIns="73152"/>
          <a:lstStyle/>
          <a:p>
            <a:pPr algn="l"/>
            <a:r>
              <a:rPr lang="ru-RU" sz="1300">
                <a:solidFill>
                  <a:srgbClr val="111827"/>
                </a:solidFill>
                <a:latin typeface="Aptos"/>
                <a:cs typeface="Aptos"/>
              </a:rPr>
              <a:t>Month test window example: 2026-01-06 - 2026-05-22; target dates до 2026-06-13.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Модельный Периметр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Сравнение простых, табличных и sequence-моделей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" y="1051560"/>
            <a:ext cx="9464040" cy="457200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67512" y="1078992"/>
            <a:ext cx="168249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Класс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404872" y="1078992"/>
            <a:ext cx="30083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Модели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468112" y="1078992"/>
            <a:ext cx="46085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Роль в исследовании</a:t>
            </a:r>
          </a:p>
        </p:txBody>
      </p:sp>
      <p:sp>
        <p:nvSpPr>
          <p:cNvPr id="18" name="Shape 18"/>
          <p:cNvSpPr/>
          <p:nvPr/>
        </p:nvSpPr>
        <p:spPr>
          <a:xfrm>
            <a:off x="640080" y="1508760"/>
            <a:ext cx="9464040" cy="45720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67512" y="1536192"/>
            <a:ext cx="168249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Baselines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404872" y="1536192"/>
            <a:ext cx="30083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naive_persistence, momentum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468112" y="1536192"/>
            <a:ext cx="46085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Контрольная точка и low-complexity alpha</a:t>
            </a:r>
          </a:p>
        </p:txBody>
      </p:sp>
      <p:sp>
        <p:nvSpPr>
          <p:cNvPr id="22" name="Shape 22"/>
          <p:cNvSpPr/>
          <p:nvPr/>
        </p:nvSpPr>
        <p:spPr>
          <a:xfrm>
            <a:off x="640080" y="1965960"/>
            <a:ext cx="9464040" cy="457200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67512" y="1993392"/>
            <a:ext cx="168249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Linear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2404872" y="1993392"/>
            <a:ext cx="30083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ridge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468112" y="1993392"/>
            <a:ext cx="46085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Стабильный табличный benchmark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2423160"/>
            <a:ext cx="9464040" cy="45720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67512" y="2450592"/>
            <a:ext cx="168249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Tree boosting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404872" y="2450592"/>
            <a:ext cx="30083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hist_gradient_boosting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468112" y="2450592"/>
            <a:ext cx="46085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Нелинейные interactions без deep stack</a:t>
            </a:r>
          </a:p>
        </p:txBody>
      </p:sp>
      <p:sp>
        <p:nvSpPr>
          <p:cNvPr id="30" name="Shape 30"/>
          <p:cNvSpPr/>
          <p:nvPr/>
        </p:nvSpPr>
        <p:spPr>
          <a:xfrm>
            <a:off x="640080" y="2880360"/>
            <a:ext cx="9464040" cy="457200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67512" y="2907792"/>
            <a:ext cx="168249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Per-ticker deep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2404872" y="2907792"/>
            <a:ext cx="30083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LSTM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468112" y="2907792"/>
            <a:ext cx="46085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Отдельная модель на тикер и горизонт</a:t>
            </a:r>
          </a:p>
        </p:txBody>
      </p:sp>
      <p:sp>
        <p:nvSpPr>
          <p:cNvPr id="34" name="Shape 34"/>
          <p:cNvSpPr/>
          <p:nvPr/>
        </p:nvSpPr>
        <p:spPr>
          <a:xfrm>
            <a:off x="640080" y="3337560"/>
            <a:ext cx="9464040" cy="45720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67512" y="3364992"/>
            <a:ext cx="168249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Pooled deep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2404872" y="3364992"/>
            <a:ext cx="30083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global_lstm_all/stationary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468112" y="3364992"/>
            <a:ext cx="46085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Одна модель на panel с calendar-global purging</a:t>
            </a:r>
          </a:p>
        </p:txBody>
      </p:sp>
      <p:sp>
        <p:nvSpPr>
          <p:cNvPr id="38" name="Shape 38"/>
          <p:cNvSpPr/>
          <p:nvPr/>
        </p:nvSpPr>
        <p:spPr>
          <a:xfrm>
            <a:off x="640080" y="3794760"/>
            <a:ext cx="9464040" cy="457200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9" name="Text 39"/>
          <p:cNvSpPr txBox="1"/>
          <p:nvPr/>
        </p:nvSpPr>
        <p:spPr>
          <a:xfrm>
            <a:off x="667512" y="3822192"/>
            <a:ext cx="168249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State-space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2404872" y="3822192"/>
            <a:ext cx="30083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global_mamba_all/stationary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5468112" y="3822192"/>
            <a:ext cx="460857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Official mamba-ssm, расширенный feature set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713232" y="4800600"/>
            <a:ext cx="9052560" cy="822960"/>
          </a:xfrm>
          <a:prstGeom prst="rect">
            <a:avLst/>
          </a:prstGeom>
          <a:solidFill>
            <a:srgbClr val="FFF7ED"/>
          </a:solidFill>
          <a:ln w="9500">
            <a:solidFill>
              <a:srgbClr val="FDBA74"/>
            </a:solidFill>
          </a:ln>
        </p:spPr>
        <p:txBody>
          <a:bodyPr wrap="square" lIns="73152" tIns="73152" rIns="73152" bIns="73152"/>
          <a:lstStyle/>
          <a:p>
            <a:pPr algn="l"/>
            <a:r>
              <a:rPr lang="ru-RU" sz="1400">
                <a:solidFill>
                  <a:srgbClr val="111827"/>
                </a:solidFill>
                <a:latin typeface="Aptos"/>
                <a:cs typeface="Aptos"/>
              </a:rPr>
              <a:t>Метрика отбора в текущем final report: directional_accuracy. Это удобно для диагностики направлений, но не оптимизирует net PnL, drawdown, turnover и trade count.</a:t>
            </a:r>
          </a:p>
        </p:txBody>
      </p:sp>
      <p:sp>
        <p:nvSpPr>
          <p:cNvPr id="43" name="Text 43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Тестовые Результаты: Week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Full-panel signal metrics, overlapping tranches</a:t>
            </a:r>
          </a:p>
        </p:txBody>
      </p:sp>
      <p:sp>
        <p:nvSpPr>
          <p:cNvPr id="14" name="Shape 14"/>
          <p:cNvSpPr/>
          <p:nvPr/>
        </p:nvSpPr>
        <p:spPr>
          <a:xfrm>
            <a:off x="502920" y="987552"/>
            <a:ext cx="6903720" cy="384048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30352" y="1014984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Model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044952" y="1014984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Cum. ret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096512" y="1014984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Sharpe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919472" y="1014984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Max DD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879592" y="1014984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Turnover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793992" y="1014984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Trades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30352" y="1399032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Ridge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044952" y="1399032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5803D"/>
                </a:solidFill>
                <a:latin typeface="Aptos"/>
                <a:cs typeface="Aptos"/>
              </a:rPr>
              <a:t>+7.7%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096512" y="1399032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3.27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919472" y="1399032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-2.4%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879592" y="1399032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3.32%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793992" y="1399032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149</a:t>
            </a:r>
          </a:p>
        </p:txBody>
      </p:sp>
      <p:sp>
        <p:nvSpPr>
          <p:cNvPr id="28" name="Shape 28"/>
          <p:cNvSpPr/>
          <p:nvPr/>
        </p:nvSpPr>
        <p:spPr>
          <a:xfrm>
            <a:off x="502920" y="1755648"/>
            <a:ext cx="690372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530352" y="1783080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LSTM stationary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3044952" y="1783080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5803D"/>
                </a:solidFill>
                <a:latin typeface="Aptos"/>
                <a:cs typeface="Aptos"/>
              </a:rPr>
              <a:t>+1.3%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096512" y="1783080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2.38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919472" y="1783080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-0.2%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879592" y="1783080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0.18%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793992" y="1783080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8</a:t>
            </a:r>
          </a:p>
        </p:txBody>
      </p:sp>
      <p:sp>
        <p:nvSpPr>
          <p:cNvPr id="35" name="Shape 35"/>
          <p:cNvSpPr/>
          <p:nvPr/>
        </p:nvSpPr>
        <p:spPr>
          <a:xfrm>
            <a:off x="502920" y="2139696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530352" y="2167128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Naive persistence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3044952" y="2167128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-0.6%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4096512" y="2167128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-0.29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919472" y="2167128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-4.8%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879592" y="2167128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10.61%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793992" y="2167128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449</a:t>
            </a:r>
          </a:p>
        </p:txBody>
      </p:sp>
      <p:sp>
        <p:nvSpPr>
          <p:cNvPr id="42" name="Shape 42"/>
          <p:cNvSpPr/>
          <p:nvPr/>
        </p:nvSpPr>
        <p:spPr>
          <a:xfrm>
            <a:off x="502920" y="2523744"/>
            <a:ext cx="690372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530352" y="2551176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Momentum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3044952" y="2551176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-0.7%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4096512" y="2551176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-0.37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4919472" y="2551176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-7.4%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5879592" y="2551176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6.11%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6793992" y="2551176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266</a:t>
            </a:r>
          </a:p>
        </p:txBody>
      </p:sp>
      <p:sp>
        <p:nvSpPr>
          <p:cNvPr id="49" name="Shape 49"/>
          <p:cNvSpPr/>
          <p:nvPr/>
        </p:nvSpPr>
        <p:spPr>
          <a:xfrm>
            <a:off x="502920" y="2907792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530352" y="2935224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LSTM all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3044952" y="2935224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-2.2%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096512" y="2935224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-1.75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919472" y="2935224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-4.8%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5879592" y="2935224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3.45%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793992" y="2935224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137</a:t>
            </a:r>
          </a:p>
        </p:txBody>
      </p:sp>
      <p:sp>
        <p:nvSpPr>
          <p:cNvPr id="56" name="Shape 56"/>
          <p:cNvSpPr/>
          <p:nvPr/>
        </p:nvSpPr>
        <p:spPr>
          <a:xfrm>
            <a:off x="502920" y="3291840"/>
            <a:ext cx="690372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530352" y="3319272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HistGradientBoosting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3044952" y="3319272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-2.5%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4096512" y="3319272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-1.10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4919472" y="3319272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-5.4%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5879592" y="3319272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1.36%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6793992" y="3319272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62</a:t>
            </a:r>
          </a:p>
        </p:txBody>
      </p:sp>
      <p:sp>
        <p:nvSpPr>
          <p:cNvPr id="63" name="Shape 63"/>
          <p:cNvSpPr/>
          <p:nvPr/>
        </p:nvSpPr>
        <p:spPr>
          <a:xfrm>
            <a:off x="502920" y="3675888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530352" y="3703320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LSTM per-ticker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3044952" y="3703320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-3.3%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4096512" y="3703320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-2.60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4919472" y="3703320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-6.0%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5879592" y="3703320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2.86%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6793992" y="3703320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128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7635240" y="1005840"/>
            <a:ext cx="2423160" cy="8686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Победитель: Ridge</a:t>
            </a:r>
          </a:p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+7.7%, Sharpe 3.27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7635240" y="2148840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/>
          <a:lstStyle/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Ridge дал лучший week panel и умеренный max drawdown.</a:t>
            </a:r>
          </a:p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Global LSTM stationary положительный, но с 8 trades.</a:t>
            </a:r>
          </a:p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Naive/momentum не покрывают costs в full-panel тесте.</a:t>
            </a:r>
          </a:p>
        </p:txBody>
      </p:sp>
      <p:pic>
        <p:nvPicPr>
          <p:cNvPr id="72" name="selected_models_test_economic_metric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238493" y="4434840"/>
            <a:ext cx="2221493" cy="1417320"/>
          </a:xfrm>
          <a:prstGeom prst="rect">
            <a:avLst/>
          </a:prstGeom>
        </p:spPr>
      </p:pic>
      <p:sp>
        <p:nvSpPr>
          <p:cNvPr id="73" name="Text 73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Тестовые Результаты: Month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Full-panel signal metrics, overlapping tranches</a:t>
            </a:r>
          </a:p>
        </p:txBody>
      </p:sp>
      <p:sp>
        <p:nvSpPr>
          <p:cNvPr id="14" name="Shape 14"/>
          <p:cNvSpPr/>
          <p:nvPr/>
        </p:nvSpPr>
        <p:spPr>
          <a:xfrm>
            <a:off x="502920" y="987552"/>
            <a:ext cx="6903720" cy="384048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530352" y="1014984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Model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044952" y="1014984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Cum. ret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4096512" y="1014984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Sharpe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919472" y="1014984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Max DD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879592" y="1014984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Turnover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793992" y="1014984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Trades</a:t>
            </a:r>
          </a:p>
        </p:txBody>
      </p:sp>
      <p:sp>
        <p:nvSpPr>
          <p:cNvPr id="21" name="Shape 21"/>
          <p:cNvSpPr/>
          <p:nvPr/>
        </p:nvSpPr>
        <p:spPr>
          <a:xfrm>
            <a:off x="502920" y="1371600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530352" y="1399032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LSTM all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044952" y="1399032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5803D"/>
                </a:solidFill>
                <a:latin typeface="Aptos"/>
                <a:cs typeface="Aptos"/>
              </a:rPr>
              <a:t>+4.4%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096512" y="1399032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8.37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919472" y="1399032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-0.3%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879592" y="1399032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0.18%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793992" y="1399032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33</a:t>
            </a:r>
          </a:p>
        </p:txBody>
      </p:sp>
      <p:sp>
        <p:nvSpPr>
          <p:cNvPr id="28" name="Shape 28"/>
          <p:cNvSpPr/>
          <p:nvPr/>
        </p:nvSpPr>
        <p:spPr>
          <a:xfrm>
            <a:off x="502920" y="1755648"/>
            <a:ext cx="690372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530352" y="1783080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Naive persistence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3044952" y="1783080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5803D"/>
                </a:solidFill>
                <a:latin typeface="Aptos"/>
                <a:cs typeface="Aptos"/>
              </a:rPr>
              <a:t>+1.8%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096512" y="1783080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1.94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919472" y="1783080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-2.2%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879592" y="1783080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2.62%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793992" y="1783080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465</a:t>
            </a:r>
          </a:p>
        </p:txBody>
      </p:sp>
      <p:sp>
        <p:nvSpPr>
          <p:cNvPr id="35" name="Shape 35"/>
          <p:cNvSpPr/>
          <p:nvPr/>
        </p:nvSpPr>
        <p:spPr>
          <a:xfrm>
            <a:off x="502920" y="2139696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530352" y="2167128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Momentum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3044952" y="2167128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5803D"/>
                </a:solidFill>
                <a:latin typeface="Aptos"/>
                <a:cs typeface="Aptos"/>
              </a:rPr>
              <a:t>+0.7%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4096512" y="2167128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0.73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919472" y="2167128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-4.1%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879592" y="2167128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1.65%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793992" y="2167128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297</a:t>
            </a:r>
          </a:p>
        </p:txBody>
      </p:sp>
      <p:sp>
        <p:nvSpPr>
          <p:cNvPr id="42" name="Shape 42"/>
          <p:cNvSpPr/>
          <p:nvPr/>
        </p:nvSpPr>
        <p:spPr>
          <a:xfrm>
            <a:off x="502920" y="2523744"/>
            <a:ext cx="690372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530352" y="2551176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Ridge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3044952" y="2551176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5803D"/>
                </a:solidFill>
                <a:latin typeface="Aptos"/>
                <a:cs typeface="Aptos"/>
              </a:rPr>
              <a:t>+0.7%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4096512" y="2551176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0.81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4919472" y="2551176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-2.3%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5879592" y="2551176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0.44%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6793992" y="2551176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84</a:t>
            </a:r>
          </a:p>
        </p:txBody>
      </p:sp>
      <p:sp>
        <p:nvSpPr>
          <p:cNvPr id="49" name="Shape 49"/>
          <p:cNvSpPr/>
          <p:nvPr/>
        </p:nvSpPr>
        <p:spPr>
          <a:xfrm>
            <a:off x="502920" y="2907792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50" name="Text 50"/>
          <p:cNvSpPr txBox="1"/>
          <p:nvPr/>
        </p:nvSpPr>
        <p:spPr>
          <a:xfrm>
            <a:off x="530352" y="2935224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LSTM per-ticker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3044952" y="2935224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-0.3%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096512" y="2935224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-0.35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919472" y="2935224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-3.2%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5879592" y="2935224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0.37%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793992" y="2935224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69</a:t>
            </a:r>
          </a:p>
        </p:txBody>
      </p:sp>
      <p:sp>
        <p:nvSpPr>
          <p:cNvPr id="56" name="Shape 56"/>
          <p:cNvSpPr/>
          <p:nvPr/>
        </p:nvSpPr>
        <p:spPr>
          <a:xfrm>
            <a:off x="502920" y="3291840"/>
            <a:ext cx="690372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57" name="Text 57"/>
          <p:cNvSpPr txBox="1"/>
          <p:nvPr/>
        </p:nvSpPr>
        <p:spPr>
          <a:xfrm>
            <a:off x="530352" y="3319272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LSTM stationary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3044952" y="3319272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-0.4%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4096512" y="3319272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-1.97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4919472" y="3319272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-1.0%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5879592" y="3319272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0.19%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6793992" y="3319272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34</a:t>
            </a:r>
          </a:p>
        </p:txBody>
      </p:sp>
      <p:sp>
        <p:nvSpPr>
          <p:cNvPr id="63" name="Shape 63"/>
          <p:cNvSpPr/>
          <p:nvPr/>
        </p:nvSpPr>
        <p:spPr>
          <a:xfrm>
            <a:off x="502920" y="3675888"/>
            <a:ext cx="690372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64" name="Text 64"/>
          <p:cNvSpPr txBox="1"/>
          <p:nvPr/>
        </p:nvSpPr>
        <p:spPr>
          <a:xfrm>
            <a:off x="530352" y="3703320"/>
            <a:ext cx="24597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HistGradientBoosting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3044952" y="3703320"/>
            <a:ext cx="9966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-0.5%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4096512" y="3703320"/>
            <a:ext cx="76809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B91C1C"/>
                </a:solidFill>
                <a:latin typeface="Aptos"/>
                <a:cs typeface="Aptos"/>
              </a:rPr>
              <a:t>-0.57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4919472" y="3703320"/>
            <a:ext cx="90525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-4.6%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5879592" y="3703320"/>
            <a:ext cx="859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0.17%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6793992" y="3703320"/>
            <a:ext cx="58521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32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7635240" y="1005840"/>
            <a:ext cx="2423160" cy="8686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 wrap="square" lIns="91440" tIns="91440" rIns="91440" bIns="91440"/>
          <a:lstStyle/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Победитель: Global LSTM all</a:t>
            </a:r>
          </a:p>
          <a:p>
            <a:pPr algn="l"/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+4.4%, Sharpe 8.37</a:t>
            </a:r>
          </a:p>
        </p:txBody>
      </p:sp>
      <p:sp>
        <p:nvSpPr>
          <p:cNvPr id="71" name="Text 71"/>
          <p:cNvSpPr txBox="1"/>
          <p:nvPr/>
        </p:nvSpPr>
        <p:spPr>
          <a:xfrm>
            <a:off x="7635240" y="2148840"/>
            <a:ext cx="2560320" cy="21031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/>
          <a:lstStyle/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Global LSTM all выглядит перспективно, но sample короткий.</a:t>
            </a:r>
          </a:p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Sharpe завышается при низкой волатильности и 33 trades.</a:t>
            </a:r>
          </a:p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Naive persistence тоже положительный, но с высоким turnover.</a:t>
            </a:r>
          </a:p>
        </p:txBody>
      </p:sp>
      <p:pic>
        <p:nvPicPr>
          <p:cNvPr id="72" name="selected_models_test_economic_metric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4238493" y="4434840"/>
            <a:ext cx="2221493" cy="1417320"/>
          </a:xfrm>
          <a:prstGeom prst="rect">
            <a:avLst/>
          </a:prstGeom>
        </p:spPr>
      </p:pic>
      <p:sp>
        <p:nvSpPr>
          <p:cNvPr id="73" name="Text 73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Выбранные Модели И Buy-And-Hold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Directional-accuracy selection не всегда дает экономическое преимущество</a:t>
            </a:r>
          </a:p>
        </p:txBody>
      </p:sp>
      <p:sp>
        <p:nvSpPr>
          <p:cNvPr id="14" name="Shape 14"/>
          <p:cNvSpPr/>
          <p:nvPr/>
        </p:nvSpPr>
        <p:spPr>
          <a:xfrm>
            <a:off x="685800" y="1005840"/>
            <a:ext cx="8686800" cy="457200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713232" y="1033272"/>
            <a:ext cx="90525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Horizon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673352" y="1033272"/>
            <a:ext cx="131673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Positive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044952" y="1033272"/>
            <a:ext cx="136245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Excess &gt; BH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462272" y="1033272"/>
            <a:ext cx="241401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Best selected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6931152" y="1033272"/>
            <a:ext cx="241401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Worst selected</a:t>
            </a:r>
          </a:p>
        </p:txBody>
      </p:sp>
      <p:sp>
        <p:nvSpPr>
          <p:cNvPr id="20" name="Shape 20"/>
          <p:cNvSpPr/>
          <p:nvPr/>
        </p:nvSpPr>
        <p:spPr>
          <a:xfrm>
            <a:off x="685800" y="1463040"/>
            <a:ext cx="8686800" cy="45720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713232" y="1490472"/>
            <a:ext cx="90525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Week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1673352" y="1490472"/>
            <a:ext cx="131673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4/7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3044952" y="1490472"/>
            <a:ext cx="136245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4/7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462272" y="1490472"/>
            <a:ext cx="241401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VTBR +7.6%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6931152" y="1490472"/>
            <a:ext cx="241401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SVCB -3.2%</a:t>
            </a:r>
          </a:p>
        </p:txBody>
      </p:sp>
      <p:sp>
        <p:nvSpPr>
          <p:cNvPr id="26" name="Shape 26"/>
          <p:cNvSpPr/>
          <p:nvPr/>
        </p:nvSpPr>
        <p:spPr>
          <a:xfrm>
            <a:off x="685800" y="1920240"/>
            <a:ext cx="8686800" cy="457200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713232" y="1947672"/>
            <a:ext cx="90525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Month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673352" y="1947672"/>
            <a:ext cx="131673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2/7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3044952" y="1947672"/>
            <a:ext cx="136245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4/7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462272" y="1947672"/>
            <a:ext cx="241401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VTBR +10.8%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6931152" y="1947672"/>
            <a:ext cx="2414016" cy="420624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MBNK -3.5%</a:t>
            </a:r>
          </a:p>
        </p:txBody>
      </p:sp>
      <p:pic>
        <p:nvPicPr>
          <p:cNvPr id="32" name="selected_models_vs_buy_hold_benchmarks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3131998" y="2423160"/>
            <a:ext cx="4617364" cy="1325880"/>
          </a:xfrm>
          <a:prstGeom prst="rect">
            <a:avLst/>
          </a:prstGeom>
        </p:spPr>
      </p:pic>
      <p:pic>
        <p:nvPicPr>
          <p:cNvPr id="33" name="selected_models_vs_buy_hold_benchmarks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131998" y="4160520"/>
            <a:ext cx="4617364" cy="1325880"/>
          </a:xfrm>
          <a:prstGeom prst="rect">
            <a:avLst/>
          </a:prstGeom>
        </p:spPr>
      </p:pic>
      <p:sp>
        <p:nvSpPr>
          <p:cNvPr id="34" name="Text 34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Диагностика Отбора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Validation directional accuracy почти не предсказывает test PnL</a:t>
            </a:r>
          </a:p>
        </p:txBody>
      </p:sp>
      <p:sp>
        <p:nvSpPr>
          <p:cNvPr id="14" name="Shape 14"/>
          <p:cNvSpPr/>
          <p:nvPr/>
        </p:nvSpPr>
        <p:spPr>
          <a:xfrm>
            <a:off x="594360" y="1005840"/>
            <a:ext cx="5669280" cy="402336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21792" y="1033272"/>
            <a:ext cx="341985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 b="1">
                <a:solidFill>
                  <a:srgbClr val="FFFFFF"/>
                </a:solidFill>
                <a:latin typeface="Aptos"/>
                <a:cs typeface="Aptos"/>
              </a:rPr>
              <a:t>Relationship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4096512" y="1033272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 b="1">
                <a:solidFill>
                  <a:srgbClr val="FFFFFF"/>
                </a:solidFill>
                <a:latin typeface="Aptos"/>
                <a:cs typeface="Aptos"/>
              </a:rPr>
              <a:t>Week corr.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193792" y="1033272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 b="1">
                <a:solidFill>
                  <a:srgbClr val="FFFFFF"/>
                </a:solidFill>
                <a:latin typeface="Aptos"/>
                <a:cs typeface="Aptos"/>
              </a:rPr>
              <a:t>Month corr.</a:t>
            </a:r>
          </a:p>
        </p:txBody>
      </p:sp>
      <p:sp>
        <p:nvSpPr>
          <p:cNvPr id="18" name="Shape 18"/>
          <p:cNvSpPr/>
          <p:nvPr/>
        </p:nvSpPr>
        <p:spPr>
          <a:xfrm>
            <a:off x="594360" y="1408176"/>
            <a:ext cx="5669280" cy="402336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621792" y="1435608"/>
            <a:ext cx="341985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DA vs test Sharpe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4096512" y="1435608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B91C1C"/>
                </a:solidFill>
                <a:latin typeface="Aptos"/>
                <a:cs typeface="Aptos"/>
              </a:rPr>
              <a:t>-0.006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5193792" y="1435608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0.049</a:t>
            </a:r>
          </a:p>
        </p:txBody>
      </p:sp>
      <p:sp>
        <p:nvSpPr>
          <p:cNvPr id="22" name="Shape 22"/>
          <p:cNvSpPr/>
          <p:nvPr/>
        </p:nvSpPr>
        <p:spPr>
          <a:xfrm>
            <a:off x="594360" y="1810512"/>
            <a:ext cx="5669280" cy="402336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621792" y="1837944"/>
            <a:ext cx="341985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DA vs test cumulative return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4096512" y="1837944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B91C1C"/>
                </a:solidFill>
                <a:latin typeface="Aptos"/>
                <a:cs typeface="Aptos"/>
              </a:rPr>
              <a:t>-0.042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5193792" y="1837944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0.049</a:t>
            </a:r>
          </a:p>
        </p:txBody>
      </p:sp>
      <p:sp>
        <p:nvSpPr>
          <p:cNvPr id="26" name="Shape 26"/>
          <p:cNvSpPr/>
          <p:nvPr/>
        </p:nvSpPr>
        <p:spPr>
          <a:xfrm>
            <a:off x="594360" y="2212848"/>
            <a:ext cx="5669280" cy="402336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21792" y="2240280"/>
            <a:ext cx="341985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Validation Sharpe vs test Sharpe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4096512" y="2240280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B91C1C"/>
                </a:solidFill>
                <a:latin typeface="Aptos"/>
                <a:cs typeface="Aptos"/>
              </a:rPr>
              <a:t>-0.043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5193792" y="2240280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B91C1C"/>
                </a:solidFill>
                <a:latin typeface="Aptos"/>
                <a:cs typeface="Aptos"/>
              </a:rPr>
              <a:t>-0.543</a:t>
            </a:r>
          </a:p>
        </p:txBody>
      </p:sp>
      <p:sp>
        <p:nvSpPr>
          <p:cNvPr id="30" name="Shape 30"/>
          <p:cNvSpPr/>
          <p:nvPr/>
        </p:nvSpPr>
        <p:spPr>
          <a:xfrm>
            <a:off x="594360" y="2615184"/>
            <a:ext cx="5669280" cy="402336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621792" y="2642616"/>
            <a:ext cx="341985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Validation cum. return vs test cum. return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096512" y="2642616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B91C1C"/>
                </a:solidFill>
                <a:latin typeface="Aptos"/>
                <a:cs typeface="Aptos"/>
              </a:rPr>
              <a:t>-0.257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193792" y="2642616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B91C1C"/>
                </a:solidFill>
                <a:latin typeface="Aptos"/>
                <a:cs typeface="Aptos"/>
              </a:rPr>
              <a:t>-0.314</a:t>
            </a:r>
          </a:p>
        </p:txBody>
      </p:sp>
      <p:sp>
        <p:nvSpPr>
          <p:cNvPr id="34" name="Shape 34"/>
          <p:cNvSpPr/>
          <p:nvPr/>
        </p:nvSpPr>
        <p:spPr>
          <a:xfrm>
            <a:off x="594360" y="3017520"/>
            <a:ext cx="5669280" cy="402336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5" name="Text 35"/>
          <p:cNvSpPr txBox="1"/>
          <p:nvPr/>
        </p:nvSpPr>
        <p:spPr>
          <a:xfrm>
            <a:off x="621792" y="3044952"/>
            <a:ext cx="341985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DA vs test DA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4096512" y="3044952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111827"/>
                </a:solidFill>
                <a:latin typeface="Aptos"/>
                <a:cs typeface="Aptos"/>
              </a:rPr>
              <a:t>0.326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5193792" y="3044952"/>
            <a:ext cx="1042416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900">
                <a:solidFill>
                  <a:srgbClr val="B91C1C"/>
                </a:solidFill>
                <a:latin typeface="Aptos"/>
                <a:cs typeface="Aptos"/>
              </a:rPr>
              <a:t>-0.369</a:t>
            </a:r>
          </a:p>
        </p:txBody>
      </p:sp>
      <p:pic>
        <p:nvPicPr>
          <p:cNvPr id="38" name="validation_sharpe_vs_test_sharp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463542" y="914400"/>
            <a:ext cx="3440677" cy="2286000"/>
          </a:xfrm>
          <a:prstGeom prst="rect">
            <a:avLst/>
          </a:prstGeom>
        </p:spPr>
      </p:pic>
      <p:pic>
        <p:nvPicPr>
          <p:cNvPr id="39" name="validation_sharpe_vs_test_sharp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6453163" y="3520440"/>
            <a:ext cx="3461435" cy="2286000"/>
          </a:xfrm>
          <a:prstGeom prst="rect">
            <a:avLst/>
          </a:prstGeom>
        </p:spPr>
      </p:pic>
      <p:sp>
        <p:nvSpPr>
          <p:cNvPr id="40" name="Text 40"/>
          <p:cNvSpPr txBox="1"/>
          <p:nvPr/>
        </p:nvSpPr>
        <p:spPr>
          <a:xfrm>
            <a:off x="640080" y="4069080"/>
            <a:ext cx="5074920" cy="914400"/>
          </a:xfrm>
          <a:prstGeom prst="rect">
            <a:avLst/>
          </a:prstGeom>
          <a:solidFill>
            <a:srgbClr val="FEF2F2"/>
          </a:solidFill>
          <a:ln w="9500">
            <a:solidFill>
              <a:srgbClr val="FCA5A5"/>
            </a:solidFill>
          </a:ln>
        </p:spPr>
        <p:txBody>
          <a:bodyPr wrap="square" lIns="73152" tIns="73152" rIns="73152" bIns="73152"/>
          <a:lstStyle/>
          <a:p>
            <a:pPr algn="l"/>
            <a:r>
              <a:rPr lang="ru-RU" sz="1400">
                <a:solidFill>
                  <a:srgbClr val="111827"/>
                </a:solidFill>
                <a:latin typeface="Aptos"/>
                <a:cs typeface="Aptos"/>
              </a:rPr>
              <a:t>Вывод: модель нужно выбирать по validation trading utility после costs и risk constraints, а directional accuracy оставить диагностической метрикой.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42" name="Text 42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Mamba Extension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Новый state-space контур уже встроен в notebook chain</a:t>
            </a:r>
          </a:p>
        </p:txBody>
      </p:sp>
      <p:sp>
        <p:nvSpPr>
          <p:cNvPr id="14" name="Shape 14"/>
          <p:cNvSpPr/>
          <p:nvPr/>
        </p:nvSpPr>
        <p:spPr>
          <a:xfrm>
            <a:off x="594360" y="1005840"/>
            <a:ext cx="8092440" cy="384048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21792" y="1033272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Hz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399032" y="1033272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Model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3456432" y="1033272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Pos.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4599432" y="1033272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Mean ret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5742432" y="1033272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Med Sharpe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6885432" y="1033272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 b="1">
                <a:solidFill>
                  <a:srgbClr val="FFFFFF"/>
                </a:solidFill>
                <a:latin typeface="Aptos"/>
                <a:cs typeface="Aptos"/>
              </a:rPr>
              <a:t>Best ticker</a:t>
            </a:r>
          </a:p>
        </p:txBody>
      </p:sp>
      <p:sp>
        <p:nvSpPr>
          <p:cNvPr id="21" name="Shape 21"/>
          <p:cNvSpPr/>
          <p:nvPr/>
        </p:nvSpPr>
        <p:spPr>
          <a:xfrm>
            <a:off x="594360" y="1389888"/>
            <a:ext cx="809244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2" name="Text 22"/>
          <p:cNvSpPr txBox="1"/>
          <p:nvPr/>
        </p:nvSpPr>
        <p:spPr>
          <a:xfrm>
            <a:off x="621792" y="1417320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Week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1399032" y="1417320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Mamba all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3456432" y="1417320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4/7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4599432" y="1417320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+5.2%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5742432" y="1417320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2.10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885432" y="1417320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CBOM +33.9%</a:t>
            </a:r>
          </a:p>
        </p:txBody>
      </p:sp>
      <p:sp>
        <p:nvSpPr>
          <p:cNvPr id="28" name="Shape 28"/>
          <p:cNvSpPr/>
          <p:nvPr/>
        </p:nvSpPr>
        <p:spPr>
          <a:xfrm>
            <a:off x="594360" y="1773936"/>
            <a:ext cx="809244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9" name="Text 29"/>
          <p:cNvSpPr txBox="1"/>
          <p:nvPr/>
        </p:nvSpPr>
        <p:spPr>
          <a:xfrm>
            <a:off x="621792" y="1801368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Week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1399032" y="1801368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Mamba stationary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456432" y="1801368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2/7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4599432" y="1801368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+4.0%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5742432" y="1801368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-0.79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885432" y="1801368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CBOM +39.0%</a:t>
            </a:r>
          </a:p>
        </p:txBody>
      </p:sp>
      <p:sp>
        <p:nvSpPr>
          <p:cNvPr id="35" name="Shape 35"/>
          <p:cNvSpPr/>
          <p:nvPr/>
        </p:nvSpPr>
        <p:spPr>
          <a:xfrm>
            <a:off x="594360" y="2157984"/>
            <a:ext cx="8092440" cy="38404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6" name="Text 36"/>
          <p:cNvSpPr txBox="1"/>
          <p:nvPr/>
        </p:nvSpPr>
        <p:spPr>
          <a:xfrm>
            <a:off x="621792" y="2185416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Month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1399032" y="2185416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Mamba all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3456432" y="2185416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5/7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599432" y="2185416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+4.3%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742432" y="2185416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5.27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885432" y="2185416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CBOM +24.3%</a:t>
            </a:r>
          </a:p>
        </p:txBody>
      </p:sp>
      <p:sp>
        <p:nvSpPr>
          <p:cNvPr id="42" name="Shape 42"/>
          <p:cNvSpPr/>
          <p:nvPr/>
        </p:nvSpPr>
        <p:spPr>
          <a:xfrm>
            <a:off x="594360" y="2542032"/>
            <a:ext cx="8092440" cy="38404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43" name="Text 43"/>
          <p:cNvSpPr txBox="1"/>
          <p:nvPr/>
        </p:nvSpPr>
        <p:spPr>
          <a:xfrm>
            <a:off x="621792" y="2569464"/>
            <a:ext cx="72237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Month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1399032" y="2569464"/>
            <a:ext cx="20025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Global Mamba stationary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3456432" y="2569464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5/7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4599432" y="2569464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+3.2%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5742432" y="2569464"/>
            <a:ext cx="10881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1.23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6885432" y="2569464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800">
                <a:solidFill>
                  <a:srgbClr val="111827"/>
                </a:solidFill>
                <a:latin typeface="Aptos"/>
                <a:cs typeface="Aptos"/>
              </a:rPr>
              <a:t>CBOM +18.8%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685800" y="4023360"/>
            <a:ext cx="9235440" cy="11887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/>
          <a:lstStyle/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Mamba feature set: 275 all-features и 258 stationary-features; рекомендованные lookbacks 60/90/126/252.</a:t>
            </a:r>
          </a:p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Leakage audit для global_mamba входит в общий strict comparison и проходит проверки.</a:t>
            </a:r>
          </a:p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• Следующий шаг: добавить Mamba в агрегированную panel-selection таблицу и сравнивать по trading utility.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85800" y="5532120"/>
            <a:ext cx="8869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900">
                <a:solidFill>
                  <a:srgbClr val="4B5563"/>
                </a:solidFill>
                <a:latin typeface="Aptos"/>
                <a:cs typeface="Aptos"/>
              </a:rPr>
              <a:t>Mean ret на этом слайде - простое среднее ticker-level signal metrics, не capital-weighted panel.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Production И Риски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Что важно перед переводом из research в торговый продукт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" y="1005840"/>
            <a:ext cx="9646920" cy="475488"/>
          </a:xfrm>
          <a:prstGeom prst="rect">
            <a:avLst/>
          </a:prstGeom>
          <a:solidFill>
            <a:srgbClr val="243447"/>
          </a:solidFill>
          <a:ln w="9500">
            <a:solidFill>
              <a:srgbClr val="243447"/>
            </a:solidFill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667512" y="1033272"/>
            <a:ext cx="204825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Риск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2770632" y="1033272"/>
            <a:ext cx="748893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 b="1">
                <a:solidFill>
                  <a:srgbClr val="FFFFFF"/>
                </a:solidFill>
                <a:latin typeface="Aptos"/>
                <a:cs typeface="Aptos"/>
              </a:rPr>
              <a:t>Практический смысл</a:t>
            </a:r>
          </a:p>
        </p:txBody>
      </p:sp>
      <p:sp>
        <p:nvSpPr>
          <p:cNvPr id="17" name="Shape 17"/>
          <p:cNvSpPr/>
          <p:nvPr/>
        </p:nvSpPr>
        <p:spPr>
          <a:xfrm>
            <a:off x="640080" y="1481328"/>
            <a:ext cx="9646920" cy="47548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18" name="Text 18"/>
          <p:cNvSpPr txBox="1"/>
          <p:nvPr/>
        </p:nvSpPr>
        <p:spPr>
          <a:xfrm>
            <a:off x="667512" y="1508760"/>
            <a:ext cx="204825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Objective mismatch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2770632" y="1508760"/>
            <a:ext cx="748893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Текущий selector optimizing directional_accuracy не учитывает costs, drawdown и turnover.</a:t>
            </a:r>
          </a:p>
        </p:txBody>
      </p:sp>
      <p:sp>
        <p:nvSpPr>
          <p:cNvPr id="20" name="Shape 20"/>
          <p:cNvSpPr/>
          <p:nvPr/>
        </p:nvSpPr>
        <p:spPr>
          <a:xfrm>
            <a:off x="640080" y="1956816"/>
            <a:ext cx="9646920" cy="47548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1" name="Text 21"/>
          <p:cNvSpPr txBox="1"/>
          <p:nvPr/>
        </p:nvSpPr>
        <p:spPr>
          <a:xfrm>
            <a:off x="667512" y="1984248"/>
            <a:ext cx="204825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Single regime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2770632" y="1984248"/>
            <a:ext cx="748893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Test sample около полугода; для Sharpe и low-trade моделей этого мало.</a:t>
            </a:r>
          </a:p>
        </p:txBody>
      </p:sp>
      <p:sp>
        <p:nvSpPr>
          <p:cNvPr id="23" name="Shape 23"/>
          <p:cNvSpPr/>
          <p:nvPr/>
        </p:nvSpPr>
        <p:spPr>
          <a:xfrm>
            <a:off x="640080" y="2432304"/>
            <a:ext cx="9646920" cy="47548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4" name="Text 24"/>
          <p:cNvSpPr txBox="1"/>
          <p:nvPr/>
        </p:nvSpPr>
        <p:spPr>
          <a:xfrm>
            <a:off x="667512" y="2459736"/>
            <a:ext cx="204825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Multiple testing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2770632" y="2459736"/>
            <a:ext cx="748893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Много моделей, тикеров, горизонтов и thresholds увеличивают риск selection luck.</a:t>
            </a:r>
          </a:p>
        </p:txBody>
      </p:sp>
      <p:sp>
        <p:nvSpPr>
          <p:cNvPr id="26" name="Shape 26"/>
          <p:cNvSpPr/>
          <p:nvPr/>
        </p:nvSpPr>
        <p:spPr>
          <a:xfrm>
            <a:off x="640080" y="2907792"/>
            <a:ext cx="9646920" cy="475488"/>
          </a:xfrm>
          <a:prstGeom prst="rect">
            <a:avLst/>
          </a:prstGeom>
          <a:solidFill>
            <a:srgbClr val="F3F4F6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667512" y="2935224"/>
            <a:ext cx="204825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Limited history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770632" y="2935224"/>
            <a:ext cx="748893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MBNK и SVCB явно flagged; оценки нестабильнее mature names.</a:t>
            </a:r>
          </a:p>
        </p:txBody>
      </p:sp>
      <p:sp>
        <p:nvSpPr>
          <p:cNvPr id="29" name="Shape 29"/>
          <p:cNvSpPr/>
          <p:nvPr/>
        </p:nvSpPr>
        <p:spPr>
          <a:xfrm>
            <a:off x="640080" y="3383280"/>
            <a:ext cx="9646920" cy="475488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/>
          <a:lstStyle/>
          <a:p/>
        </p:txBody>
      </p:sp>
      <p:sp>
        <p:nvSpPr>
          <p:cNvPr id="30" name="Text 30"/>
          <p:cNvSpPr txBox="1"/>
          <p:nvPr/>
        </p:nvSpPr>
        <p:spPr>
          <a:xfrm>
            <a:off x="667512" y="3410712"/>
            <a:ext cx="204825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Serving mismatch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2770632" y="3410712"/>
            <a:ext cx="7488936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/>
          <a:lstStyle/>
          <a:p>
            <a:pPr algn="l"/>
            <a:r>
              <a:rPr lang="ru-RU" sz="1000">
                <a:solidFill>
                  <a:srgbClr val="111827"/>
                </a:solidFill>
                <a:latin typeface="Aptos"/>
                <a:cs typeface="Aptos"/>
              </a:rPr>
              <a:t>ML daily horizons не равны произвольным forecast_period/time_frame в bot/API.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713232" y="4892040"/>
            <a:ext cx="8961120" cy="502920"/>
          </a:xfrm>
          <a:prstGeom prst="rect">
            <a:avLst/>
          </a:prstGeom>
          <a:solidFill>
            <a:srgbClr val="FFFFFF"/>
          </a:solidFill>
          <a:ln w="9500">
            <a:solidFill>
              <a:srgbClr val="D1D5DB"/>
            </a:solidFill>
          </a:ln>
        </p:spPr>
        <p:txBody>
          <a:bodyPr wrap="square" lIns="73152" tIns="73152" rIns="73152" bIns="73152"/>
          <a:lstStyle/>
          <a:p>
            <a:pPr algn="l"/>
            <a:r>
              <a:rPr lang="ru-RU" sz="1200">
                <a:solidFill>
                  <a:srgbClr val="111827"/>
                </a:solidFill>
                <a:latin typeface="Aptos"/>
                <a:cs typeface="Aptos"/>
              </a:rPr>
              <a:t>MLflow контур предусмотрен: stock-forecast-train-register-mlflow --artifact-root artifacts --skip-training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0972800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 12"/>
          <p:cNvSpPr txBox="1"/>
          <p:nvPr/>
        </p:nvSpPr>
        <p:spPr>
          <a:xfrm>
            <a:off x="411480" y="29260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2500" b="1">
                <a:solidFill>
                  <a:srgbClr val="111827"/>
                </a:solidFill>
                <a:latin typeface="Aptos"/>
                <a:cs typeface="Aptos"/>
              </a:rPr>
              <a:t>Рекомендации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429768" y="713232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000">
                <a:solidFill>
                  <a:srgbClr val="4B5563"/>
                </a:solidFill>
                <a:latin typeface="Aptos"/>
                <a:cs typeface="Aptos"/>
              </a:rPr>
              <a:t>Приоритеты следующей итерации</a:t>
            </a:r>
          </a:p>
        </p:txBody>
      </p:sp>
      <p:sp>
        <p:nvSpPr>
          <p:cNvPr id="14" name="Shape 14"/>
          <p:cNvSpPr/>
          <p:nvPr/>
        </p:nvSpPr>
        <p:spPr>
          <a:xfrm>
            <a:off x="685800" y="105156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 15"/>
          <p:cNvSpPr txBox="1"/>
          <p:nvPr/>
        </p:nvSpPr>
        <p:spPr>
          <a:xfrm>
            <a:off x="832104" y="1161288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325880" y="103327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Заменить selector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1325880" y="132588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utility = Sharpe - lambda_drawdown*DD - lambda_turnover*turnover - instability penalty; hard constraints до ранжирования.</a:t>
            </a:r>
          </a:p>
        </p:txBody>
      </p:sp>
      <p:sp>
        <p:nvSpPr>
          <p:cNvPr id="18" name="Shape 18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Text 19"/>
          <p:cNvSpPr txBox="1"/>
          <p:nvPr/>
        </p:nvSpPr>
        <p:spPr>
          <a:xfrm>
            <a:off x="832104" y="2029968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1325880" y="190195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Multi-fold purged walk-forward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1325880" y="219456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Несколько режимов рынка, worst-fold Sharpe, bootstrap CI, deflated/probabilistic Sharpe.</a:t>
            </a:r>
          </a:p>
        </p:txBody>
      </p:sp>
      <p:sp>
        <p:nvSpPr>
          <p:cNvPr id="22" name="Shape 22"/>
          <p:cNvSpPr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Text 23"/>
          <p:cNvSpPr txBox="1"/>
          <p:nvPr/>
        </p:nvSpPr>
        <p:spPr>
          <a:xfrm>
            <a:off x="832104" y="2898648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1325880" y="277063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Оптимизировать торговое правило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1325880" y="306324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No-trade band, threshold by expected net edge, hysteresis, turnover cap, volatility-adjusted thresholds.</a:t>
            </a:r>
          </a:p>
        </p:txBody>
      </p:sp>
      <p:sp>
        <p:nvSpPr>
          <p:cNvPr id="26" name="Shape 26"/>
          <p:cNvSpPr/>
          <p:nvPr/>
        </p:nvSpPr>
        <p:spPr>
          <a:xfrm>
            <a:off x="685800" y="365760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Text 27"/>
          <p:cNvSpPr txBox="1"/>
          <p:nvPr/>
        </p:nvSpPr>
        <p:spPr>
          <a:xfrm>
            <a:off x="832104" y="3767328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1325880" y="363931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Добавить position sizing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1325880" y="393192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Vol targeting, forecast edge / forecast volatility, exposure cap, liquidity cap, drawdown de-risking.</a:t>
            </a:r>
          </a:p>
        </p:txBody>
      </p:sp>
      <p:sp>
        <p:nvSpPr>
          <p:cNvPr id="30" name="Shape 30"/>
          <p:cNvSpPr/>
          <p:nvPr/>
        </p:nvSpPr>
        <p:spPr>
          <a:xfrm>
            <a:off x="685800" y="452628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Text 31"/>
          <p:cNvSpPr txBox="1"/>
          <p:nvPr/>
        </p:nvSpPr>
        <p:spPr>
          <a:xfrm>
            <a:off x="832104" y="4636008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5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325880" y="45079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400" b="1">
                <a:solidFill>
                  <a:srgbClr val="111827"/>
                </a:solidFill>
                <a:latin typeface="Aptos"/>
                <a:cs typeface="Aptos"/>
              </a:rPr>
              <a:t>Синхронизировать serving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1325880" y="4800600"/>
            <a:ext cx="8138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1100">
                <a:solidFill>
                  <a:srgbClr val="4B5563"/>
                </a:solidFill>
                <a:latin typeface="Aptos"/>
                <a:cs typeface="Aptos"/>
              </a:rPr>
              <a:t>API должен различать researched daily ML horizons и fallback AutoARIMA timeframes.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685800" y="5806440"/>
            <a:ext cx="9418320" cy="320040"/>
          </a:xfrm>
          <a:prstGeom prst="rect">
            <a:avLst/>
          </a:prstGeom>
          <a:solidFill>
            <a:srgbClr val="243447"/>
          </a:solidFill>
          <a:ln>
            <a:noFill/>
          </a:ln>
        </p:spPr>
        <p:txBody>
          <a:bodyPr wrap="square" lIns="73152" tIns="73152" rIns="73152" bIns="73152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Aptos"/>
                <a:cs typeface="Aptos"/>
              </a:rPr>
              <a:t>Bottom line: продолжать как research platform; production trading approval только после utility-based selection и multi-regime evidence.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411480" y="6473952"/>
            <a:ext cx="62179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Источник: forecasting/artifacts/reports/final_strict_comparison.json и локальные notebook artifacts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10469880" y="6473952"/>
            <a:ext cx="292608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ru-RU" sz="700">
                <a:solidFill>
                  <a:srgbClr val="6B7280"/>
                </a:solidFill>
                <a:latin typeface="Aptos"/>
                <a:cs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tReport">
  <a:themeElements>
    <a:clrScheme name="QuantReport">
      <a:dk1>
        <a:srgbClr val="111827"/>
      </a:dk1>
      <a:lt1>
        <a:srgbClr val="FFFFFF"/>
      </a:lt1>
      <a:dk2>
        <a:srgbClr val="243447"/>
      </a:dk2>
      <a:lt2>
        <a:srgbClr val="F7F8FA"/>
      </a:lt2>
      <a:accent1>
        <a:srgbClr val="0F766E"/>
      </a:accent1>
      <a:accent2>
        <a:srgbClr val="1D4ED8"/>
      </a:accent2>
      <a:accent3>
        <a:srgbClr val="B45309"/>
      </a:accent3>
      <a:accent4>
        <a:srgbClr val="15803D"/>
      </a:accent4>
      <a:accent5>
        <a:srgbClr val="B91C1C"/>
      </a:accent5>
      <a:accent6>
        <a:srgbClr val="6B7280"/>
      </a:accent6>
      <a:hlink>
        <a:srgbClr val="1D4ED8"/>
      </a:hlink>
      <a:folHlink>
        <a:srgbClr val="0F766E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QuantRepor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OOXML generator</Application>
  <PresentationFormat>Widescreen</PresentationFormat>
  <Slides>13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Прогнозирование доходности акций</dc:title>
  <dc:creator>Codex</dc:creator>
  <cp:lastModifiedBy>Codex</cp:lastModifiedBy>
  <dcterms:created xsi:type="dcterms:W3CDTF">2026-06-14T10:07:09Z</dcterms:created>
  <dcterms:modified xsi:type="dcterms:W3CDTF">2026-06-14T10:07:09Z</dcterms:modified>
</cp:coreProperties>
</file>